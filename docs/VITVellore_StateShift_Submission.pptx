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0662"/>
  </p:normalViewPr>
  <p:slideViewPr>
    <p:cSldViewPr snapToGrid="0">
      <p:cViewPr varScale="1">
        <p:scale>
          <a:sx n="106" d="100"/>
          <a:sy n="106" d="100"/>
        </p:scale>
        <p:origin x="8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Closing slide. Add the Google Form URL and a contact email before sharing. Edition 2 </a:t>
            </a:r>
            <a:r>
              <a:rPr lang="en-US" dirty="0" err="1"/>
              <a:t>organising</a:t>
            </a:r>
            <a:r>
              <a:rPr lang="en-US" dirty="0"/>
              <a:t> team for reference: Language AI - Sourabh Tiwari, Gaurav, Sanjeeth </a:t>
            </a:r>
            <a:r>
              <a:rPr lang="en-US" dirty="0" err="1"/>
              <a:t>Pothireddy</a:t>
            </a:r>
            <a:r>
              <a:rPr lang="en-US" dirty="0"/>
              <a:t>, </a:t>
            </a:r>
            <a:r>
              <a:rPr lang="en-US" dirty="0" err="1"/>
              <a:t>Gorang</a:t>
            </a:r>
            <a:r>
              <a:rPr lang="en-US" dirty="0"/>
              <a:t> Maniar; PRISM - Binny Lakra, Prakhar </a:t>
            </a:r>
            <a:r>
              <a:rPr lang="en-US" dirty="0" err="1"/>
              <a:t>Chandrakar</a:t>
            </a:r>
            <a:r>
              <a:rPr lang="en-US" dirty="0"/>
              <a:t>, Vishu Kumar; Kick-off and mentors - Giridhar Jakki, </a:t>
            </a:r>
            <a:r>
              <a:rPr lang="en-US" dirty="0" err="1"/>
              <a:t>Deepraj</a:t>
            </a:r>
            <a:r>
              <a:rPr lang="en-US" dirty="0"/>
              <a:t> Prabhakar Patkar (Language AI), </a:t>
            </a:r>
            <a:r>
              <a:rPr lang="en-US" dirty="0" err="1"/>
              <a:t>Srimanu</a:t>
            </a:r>
            <a:r>
              <a:rPr lang="en-US" dirty="0"/>
              <a:t> Prasad Nagaraju, Ashish Kumar (Tech Strategy).</a:t>
            </a:r>
            <a:endParaRPr dirty="0"/>
          </a:p>
        </p:txBody>
      </p:sp>
      <p:sp>
        <p:nvSpPr>
          <p:cNvPr id="160" name="Google Shape;16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D9D3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lang="en-US" sz="20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8526780" cy="3147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ID - Theme 05, Interruptible Real-Time Agents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Team Name – </a:t>
            </a:r>
            <a:r>
              <a:rPr lang="en-US" sz="1600" b="0" i="0" u="none" strike="noStrike" cap="none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StateShift</a:t>
            </a:r>
            <a:endParaRPr lang="en-US" sz="1600" b="0" i="0" u="none" strike="noStrike" cap="none" dirty="0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College Name – Vellore Institute of </a:t>
            </a: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echnology, Vellore</a:t>
            </a:r>
            <a:endParaRPr lang="en-US" sz="1600" dirty="0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1 </a:t>
            </a: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Lakshya Asnani -- lakshya.asnani2024@vitstudent.ac.in</a:t>
            </a:r>
          </a:p>
          <a:p>
            <a:pPr marL="177800" lvl="0" indent="-177800">
              <a:spcBef>
                <a:spcPts val="500"/>
              </a:spcBef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2 </a:t>
            </a: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- Maanas Tyagi— Maanas.tyagi2024@vitstudent.ac.in</a:t>
            </a:r>
            <a:endParaRPr dirty="0"/>
          </a:p>
          <a:p>
            <a:pPr marL="177800" lvl="0" indent="-177800">
              <a:spcBef>
                <a:spcPts val="500"/>
              </a:spcBef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3 - </a:t>
            </a: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Dev Arpit Patel—dev.arpitpatel2024@vitstudent.ac.in </a:t>
            </a:r>
          </a:p>
          <a:p>
            <a:pPr marL="177800" lvl="0" indent="-177800">
              <a:spcBef>
                <a:spcPts val="500"/>
              </a:spcBef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4 - </a:t>
            </a: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Ansh Hemal Mehta — ansh.hemalmehta2024@vitstudent.ac.in</a:t>
            </a:r>
            <a:endParaRPr dirty="0"/>
          </a:p>
          <a:p>
            <a:pPr marL="177800" lvl="0" indent="-177800">
              <a:spcBef>
                <a:spcPts val="500"/>
              </a:spcBef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Submission </a:t>
            </a:r>
            <a:r>
              <a:rPr lang="en-US" sz="1600" b="0" i="0" u="none" strike="noStrike" cap="none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link - </a:t>
            </a: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https://</a:t>
            </a:r>
            <a:r>
              <a:rPr lang="en-US" sz="1600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github.com</a:t>
            </a: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/LAKSHYA2517/Replan</a:t>
            </a:r>
            <a:endParaRPr dirty="0"/>
          </a:p>
          <a:p>
            <a:pPr marL="177800" marR="0" lvl="0" indent="-762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 dirty="0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" descr="hero_netwo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0" y="850392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3000" b="1" i="0" dirty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 05 — Interruptible Real-Time Agents</a:t>
            </a:r>
            <a:endParaRPr dirty="0"/>
          </a:p>
        </p:txBody>
      </p:sp>
      <p:sp>
        <p:nvSpPr>
          <p:cNvPr id="102" name="Google Shape;102;p2"/>
          <p:cNvSpPr txBox="1">
            <a:spLocks noGrp="1"/>
          </p:cNvSpPr>
          <p:nvPr>
            <p:ph type="body" idx="1"/>
          </p:nvPr>
        </p:nvSpPr>
        <p:spPr>
          <a:xfrm flipV="1">
            <a:off x="7429500" y="6176962"/>
            <a:ext cx="3924300" cy="52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.</a:t>
            </a:r>
            <a:endParaRPr dirty="0"/>
          </a:p>
        </p:txBody>
      </p:sp>
      <p:sp>
        <p:nvSpPr>
          <p:cNvPr id="103" name="TextBox 102"/>
          <p:cNvSpPr txBox="1"/>
          <p:nvPr/>
        </p:nvSpPr>
        <p:spPr>
          <a:xfrm>
            <a:off x="640080" y="1691640"/>
            <a:ext cx="5486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 b="0" i="0" dirty="0">
                <a:solidFill>
                  <a:srgbClr val="242133"/>
                </a:solidFill>
                <a:latin typeface="Calibri"/>
              </a:rPr>
              <a:t>Standard voice assistants are half-duplex: listen, think, speak — in strict turns.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 b="0" i="0" dirty="0">
                <a:solidFill>
                  <a:srgbClr val="242133"/>
                </a:solidFill>
                <a:latin typeface="Calibri"/>
              </a:rPr>
              <a:t>Real people interrupt, hesitate, and correct themselves mid-sentence. An in-car assistant that keeps a stale destination after the driver changes it, or a support bot that double-books a request it already handled, is this failure mode in production.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40080" y="4160520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3D2B63"/>
                </a:solidFill>
                <a:latin typeface="Calibri"/>
              </a:rPr>
              <a:t>Reference benchmark: </a:t>
            </a:r>
            <a:r>
              <a:rPr sz="1250" b="0" i="0">
                <a:solidFill>
                  <a:srgbClr val="6B667A"/>
                </a:solidFill>
                <a:latin typeface="Calibri"/>
              </a:rPr>
              <a:t>Full-Duplex-Bench v3 (FDB-v3) — 100 real human recordings, 5 disfluency types, chained calls across 12 mock tools in 4 domains, 3 difficulty tiers.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446520" y="1691640"/>
            <a:ext cx="5102352" cy="1298448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  <a:effectLst>
            <a:outerShdw blurRad="90000" dist="38100" dir="5400000" rotWithShape="0">
              <a:srgbClr val="3D2B63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6601968" y="2112264"/>
            <a:ext cx="457200" cy="45720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223759" y="1837944"/>
            <a:ext cx="41422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450" b="1" i="0">
                <a:solidFill>
                  <a:srgbClr val="3D2B63"/>
                </a:solidFill>
                <a:latin typeface="Calibri"/>
              </a:rPr>
              <a:t>Stay responsive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223759" y="2167128"/>
            <a:ext cx="414223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242133"/>
                </a:solidFill>
                <a:latin typeface="Calibri"/>
              </a:rPr>
              <a:t>Meaningful spoken feedback within a few hundred milliseconds — no dead air, no false “done!” claims.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446520" y="3172968"/>
            <a:ext cx="5102352" cy="1298448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  <a:effectLst>
            <a:outerShdw blurRad="90000" dist="38100" dir="5400000" rotWithShape="0">
              <a:srgbClr val="3D2B63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6601968" y="3593591"/>
            <a:ext cx="457200" cy="45720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223759" y="3319272"/>
            <a:ext cx="41422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450" b="1" i="0">
                <a:solidFill>
                  <a:srgbClr val="3D2B63"/>
                </a:solidFill>
                <a:latin typeface="Calibri"/>
              </a:rPr>
              <a:t>Work asynchronously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223759" y="3648456"/>
            <a:ext cx="414223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242133"/>
                </a:solidFill>
                <a:latin typeface="Calibri"/>
              </a:rPr>
              <a:t>Tool calls, perception, and reasoning run in the background without ever blocking the conversation.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6446520" y="4654296"/>
            <a:ext cx="5102352" cy="1298448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  <a:effectLst>
            <a:outerShdw blurRad="90000" dist="38100" dir="5400000" rotWithShape="0">
              <a:srgbClr val="3D2B63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6601968" y="5074920"/>
            <a:ext cx="457200" cy="45720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223759" y="4800600"/>
            <a:ext cx="41422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450" b="1" i="0">
                <a:solidFill>
                  <a:srgbClr val="3D2B63"/>
                </a:solidFill>
                <a:latin typeface="Calibri"/>
              </a:rPr>
              <a:t>Recover cleanly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223759" y="5129783"/>
            <a:ext cx="414223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242133"/>
                </a:solidFill>
                <a:latin typeface="Calibri"/>
              </a:rPr>
              <a:t>When the user changes their mind mid-utterance, discard stale intent, update arguments, and never repeat a state-changing 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3000" b="1" i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sp>
        <p:nvSpPr>
          <p:cNvPr id="108" name="Google Shape;108;p3"/>
          <p:cNvSpPr txBox="1">
            <a:spLocks noGrp="1"/>
          </p:cNvSpPr>
          <p:nvPr>
            <p:ph type="body" idx="1"/>
          </p:nvPr>
        </p:nvSpPr>
        <p:spPr>
          <a:xfrm flipH="1" flipV="1">
            <a:off x="11353800" y="6183629"/>
            <a:ext cx="407670" cy="309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.</a:t>
            </a:r>
            <a:endParaRPr dirty="0"/>
          </a:p>
        </p:txBody>
      </p:sp>
      <p:sp>
        <p:nvSpPr>
          <p:cNvPr id="109" name="Rounded Rectangle 108"/>
          <p:cNvSpPr/>
          <p:nvPr/>
        </p:nvSpPr>
        <p:spPr>
          <a:xfrm>
            <a:off x="640080" y="1691640"/>
            <a:ext cx="3483864" cy="233172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  <a:effectLst>
            <a:outerShdw blurRad="90000" dist="38100" dir="5400000" rotWithShape="0">
              <a:srgbClr val="3D2B63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841247" y="1874520"/>
            <a:ext cx="308152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3D2B63"/>
                </a:solidFill>
                <a:latin typeface="Calibri"/>
              </a:rPr>
              <a:t>End-to-end realtime models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41247" y="2441448"/>
            <a:ext cx="30815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80" b="0" i="0">
                <a:solidFill>
                  <a:srgbClr val="242133"/>
                </a:solidFill>
                <a:latin typeface="Calibri"/>
              </a:rPr>
              <a:t>GPT-Realtime, Gemini Live: fast, natural turn-taking, native tool calling.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41247" y="3264408"/>
            <a:ext cx="308152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80" b="1" i="0">
                <a:solidFill>
                  <a:srgbClr val="B43B3B"/>
                </a:solidFill>
                <a:latin typeface="Calibri"/>
              </a:rPr>
              <a:t>Gap: </a:t>
            </a:r>
            <a:r>
              <a:rPr sz="1080" b="0" i="0">
                <a:solidFill>
                  <a:srgbClr val="B43B3B"/>
                </a:solidFill>
                <a:latin typeface="Calibri"/>
              </a:rPr>
              <a:t>Commit tool arguments the instant they're heard — before a correction can arrive.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4352544" y="1691640"/>
            <a:ext cx="3483864" cy="233172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  <a:effectLst>
            <a:outerShdw blurRad="90000" dist="38100" dir="5400000" rotWithShape="0">
              <a:srgbClr val="3D2B63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4553712" y="1874520"/>
            <a:ext cx="308152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3D2B63"/>
                </a:solidFill>
                <a:latin typeface="Calibri"/>
              </a:rPr>
              <a:t>Cascaded pipelines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553712" y="2441448"/>
            <a:ext cx="30815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80" b="0" i="0">
                <a:solidFill>
                  <a:srgbClr val="242133"/>
                </a:solidFill>
                <a:latin typeface="Calibri"/>
              </a:rPr>
              <a:t>Whisper → LLM → TTS: modular, reliable, 100% turn-take rate by construction.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53712" y="3264408"/>
            <a:ext cx="308152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80" b="1" i="0">
                <a:solidFill>
                  <a:srgbClr val="B43B3B"/>
                </a:solidFill>
                <a:latin typeface="Calibri"/>
              </a:rPr>
              <a:t>Gap: </a:t>
            </a:r>
            <a:r>
              <a:rPr sz="1080" b="0" i="0">
                <a:solidFill>
                  <a:srgbClr val="B43B3B"/>
                </a:solidFill>
                <a:latin typeface="Calibri"/>
              </a:rPr>
              <a:t>ASR finalizes the pre-correction transcript; the LLM never sees the fix.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8065008" y="1691640"/>
            <a:ext cx="3483864" cy="233172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  <a:effectLst>
            <a:outerShdw blurRad="90000" dist="38100" dir="5400000" rotWithShape="0">
              <a:srgbClr val="3D2B63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8266176" y="1874520"/>
            <a:ext cx="308152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3D2B63"/>
                </a:solidFill>
                <a:latin typeface="Calibri"/>
              </a:rPr>
              <a:t>Naive tool-calling agents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266176" y="2441448"/>
            <a:ext cx="30815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80" b="0" i="0">
                <a:solidFill>
                  <a:srgbClr val="242133"/>
                </a:solidFill>
                <a:latin typeface="Calibri"/>
              </a:rPr>
              <a:t>Last message wins: whatever the model hears last overwrites the call state.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266176" y="3264408"/>
            <a:ext cx="308152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80" b="1" i="0">
                <a:solidFill>
                  <a:srgbClr val="B43B3B"/>
                </a:solidFill>
                <a:latin typeface="Calibri"/>
              </a:rPr>
              <a:t>Gap: </a:t>
            </a:r>
            <a:r>
              <a:rPr sz="1080" b="0" i="0">
                <a:solidFill>
                  <a:srgbClr val="B43B3B"/>
                </a:solidFill>
                <a:latin typeface="Calibri"/>
              </a:rPr>
              <a:t>No notion of a call already “in flight” — stale and fresh actions both fire.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40080" y="4297680"/>
            <a:ext cx="10908792" cy="1508760"/>
          </a:xfrm>
          <a:prstGeom prst="roundRect">
            <a:avLst>
              <a:gd name="adj" fmla="val 6000"/>
            </a:avLst>
          </a:prstGeom>
          <a:solidFill>
            <a:srgbClr val="271B45"/>
          </a:solidFill>
          <a:ln>
            <a:noFill/>
          </a:ln>
          <a:effectLst>
            <a:outerShdw blurRad="90000" dist="38100" dir="5400000" rotWithShape="0">
              <a:srgbClr val="3D2B63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1005840" y="4462272"/>
            <a:ext cx="30175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58.8%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EAE4F7"/>
                </a:solidFill>
                <a:latin typeface="Calibri"/>
              </a:rPr>
              <a:t>best published model, self-correction Pass@1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206240" y="4462272"/>
            <a:ext cx="30175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17.6%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EAE4F7"/>
                </a:solidFill>
                <a:latin typeface="Calibri"/>
              </a:rPr>
              <a:t>cascaded baseline, self-correction Pass@1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406640" y="4553712"/>
            <a:ext cx="3867912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Across every published FDB-v3 system, self-correction handling is the single worst-scoring category. That gap is what RePlan is built to close.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3000" b="1" i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 — RePlan Architecture</a:t>
            </a:r>
            <a:endParaRPr/>
          </a:p>
        </p:txBody>
      </p:sp>
      <p:sp>
        <p:nvSpPr>
          <p:cNvPr id="114" name="Google Shape;114;p4"/>
          <p:cNvSpPr txBox="1">
            <a:spLocks noGrp="1"/>
          </p:cNvSpPr>
          <p:nvPr>
            <p:ph type="body" idx="1"/>
          </p:nvPr>
        </p:nvSpPr>
        <p:spPr>
          <a:xfrm>
            <a:off x="10767060" y="5980176"/>
            <a:ext cx="586739" cy="196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32500" lnSpcReduction="20000"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.</a:t>
            </a:r>
            <a:endParaRPr dirty="0"/>
          </a:p>
        </p:txBody>
      </p:sp>
      <p:sp>
        <p:nvSpPr>
          <p:cNvPr id="115" name="TextBox 114"/>
          <p:cNvSpPr txBox="1"/>
          <p:nvPr/>
        </p:nvSpPr>
        <p:spPr>
          <a:xfrm>
            <a:off x="640080" y="169164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6B667A"/>
                </a:solidFill>
                <a:latin typeface="Calibri"/>
              </a:rPr>
              <a:t>A LiveKit voice agent wrapped around a deterministic runtime core: every tool call is fingerprinted before it's launched, and only committed if that fingerprint still matches reality when the result returns.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40080" y="2258568"/>
            <a:ext cx="1604772" cy="960120"/>
          </a:xfrm>
          <a:prstGeom prst="roundRect">
            <a:avLst>
              <a:gd name="adj" fmla="val 9000"/>
            </a:avLst>
          </a:prstGeom>
          <a:solidFill>
            <a:srgbClr val="704EA6"/>
          </a:solidFill>
          <a:ln>
            <a:noFill/>
          </a:ln>
          <a:effectLst>
            <a:outerShdw blurRad="90000" dist="38100" dir="5400000" rotWithShape="0">
              <a:srgbClr val="3D2B63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LiveKit Voice I/O</a:t>
            </a:r>
          </a:p>
          <a:p>
            <a:pPr algn="ctr">
              <a:spcBef>
                <a:spcPts val="300"/>
              </a:spcBef>
            </a:pPr>
            <a:r>
              <a:rPr sz="880" b="0" i="0">
                <a:solidFill>
                  <a:srgbClr val="EAE4F7"/>
                </a:solidFill>
                <a:latin typeface="Calibri"/>
              </a:rPr>
              <a:t>STT + turn detection</a:t>
            </a:r>
          </a:p>
        </p:txBody>
      </p:sp>
      <p:sp>
        <p:nvSpPr>
          <p:cNvPr id="117" name="Right Arrow 116"/>
          <p:cNvSpPr/>
          <p:nvPr/>
        </p:nvSpPr>
        <p:spPr>
          <a:xfrm>
            <a:off x="2244852" y="2656332"/>
            <a:ext cx="256032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D2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ounded Rectangle 117"/>
          <p:cNvSpPr/>
          <p:nvPr/>
        </p:nvSpPr>
        <p:spPr>
          <a:xfrm>
            <a:off x="2500884" y="2258568"/>
            <a:ext cx="1604772" cy="960120"/>
          </a:xfrm>
          <a:prstGeom prst="roundRect">
            <a:avLst>
              <a:gd name="adj" fmla="val 9000"/>
            </a:avLst>
          </a:prstGeom>
          <a:solidFill>
            <a:srgbClr val="704EA6"/>
          </a:solidFill>
          <a:ln>
            <a:noFill/>
          </a:ln>
          <a:effectLst>
            <a:outerShdw blurRad="90000" dist="38100" dir="5400000" rotWithShape="0">
              <a:srgbClr val="3D2B63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Hypothesis Classifier</a:t>
            </a:r>
          </a:p>
          <a:p>
            <a:pPr algn="ctr">
              <a:spcBef>
                <a:spcPts val="300"/>
              </a:spcBef>
            </a:pPr>
            <a:r>
              <a:rPr sz="880" b="0" i="0">
                <a:solidFill>
                  <a:srgbClr val="EAE4F7"/>
                </a:solidFill>
                <a:latin typeface="Calibri"/>
              </a:rPr>
              <a:t>extracts the proposal</a:t>
            </a:r>
          </a:p>
        </p:txBody>
      </p:sp>
      <p:sp>
        <p:nvSpPr>
          <p:cNvPr id="119" name="Right Arrow 118"/>
          <p:cNvSpPr/>
          <p:nvPr/>
        </p:nvSpPr>
        <p:spPr>
          <a:xfrm>
            <a:off x="4105656" y="2656332"/>
            <a:ext cx="256032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D2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ounded Rectangle 119"/>
          <p:cNvSpPr/>
          <p:nvPr/>
        </p:nvSpPr>
        <p:spPr>
          <a:xfrm>
            <a:off x="4361688" y="2258568"/>
            <a:ext cx="1604772" cy="960120"/>
          </a:xfrm>
          <a:prstGeom prst="roundRect">
            <a:avLst>
              <a:gd name="adj" fmla="val 9000"/>
            </a:avLst>
          </a:prstGeom>
          <a:solidFill>
            <a:srgbClr val="704EA6"/>
          </a:solidFill>
          <a:ln>
            <a:noFill/>
          </a:ln>
          <a:effectLst>
            <a:outerShdw blurRad="90000" dist="38100" dir="5400000" rotWithShape="0">
              <a:srgbClr val="3D2B63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Freeze Controller</a:t>
            </a:r>
          </a:p>
          <a:p>
            <a:pPr algn="ctr">
              <a:spcBef>
                <a:spcPts val="300"/>
              </a:spcBef>
            </a:pPr>
            <a:r>
              <a:rPr sz="880" b="0" i="0">
                <a:solidFill>
                  <a:srgbClr val="EAE4F7"/>
                </a:solidFill>
                <a:latin typeface="Calibri"/>
              </a:rPr>
              <a:t>fast path vs. speculative</a:t>
            </a:r>
          </a:p>
        </p:txBody>
      </p:sp>
      <p:sp>
        <p:nvSpPr>
          <p:cNvPr id="121" name="Right Arrow 120"/>
          <p:cNvSpPr/>
          <p:nvPr/>
        </p:nvSpPr>
        <p:spPr>
          <a:xfrm>
            <a:off x="5966460" y="2656332"/>
            <a:ext cx="256032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D2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ounded Rectangle 121"/>
          <p:cNvSpPr/>
          <p:nvPr/>
        </p:nvSpPr>
        <p:spPr>
          <a:xfrm>
            <a:off x="6222492" y="2258568"/>
            <a:ext cx="1604772" cy="960120"/>
          </a:xfrm>
          <a:prstGeom prst="roundRect">
            <a:avLst>
              <a:gd name="adj" fmla="val 9000"/>
            </a:avLst>
          </a:prstGeom>
          <a:solidFill>
            <a:srgbClr val="704EA6"/>
          </a:solidFill>
          <a:ln>
            <a:noFill/>
          </a:ln>
          <a:effectLst>
            <a:outerShdw blurRad="90000" dist="38100" dir="5400000" rotWithShape="0">
              <a:srgbClr val="3D2B63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Speculative Executor</a:t>
            </a:r>
          </a:p>
          <a:p>
            <a:pPr algn="ctr">
              <a:spcBef>
                <a:spcPts val="300"/>
              </a:spcBef>
            </a:pPr>
            <a:r>
              <a:rPr sz="880" b="0" i="0">
                <a:solidFill>
                  <a:srgbClr val="EAE4F7"/>
                </a:solidFill>
                <a:latin typeface="Calibri"/>
              </a:rPr>
              <a:t>dispatches, fingerprinted</a:t>
            </a:r>
          </a:p>
        </p:txBody>
      </p:sp>
      <p:sp>
        <p:nvSpPr>
          <p:cNvPr id="123" name="Right Arrow 122"/>
          <p:cNvSpPr/>
          <p:nvPr/>
        </p:nvSpPr>
        <p:spPr>
          <a:xfrm>
            <a:off x="7827264" y="2656332"/>
            <a:ext cx="256032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D2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ounded Rectangle 123"/>
          <p:cNvSpPr/>
          <p:nvPr/>
        </p:nvSpPr>
        <p:spPr>
          <a:xfrm>
            <a:off x="8083296" y="2258568"/>
            <a:ext cx="1604772" cy="960120"/>
          </a:xfrm>
          <a:prstGeom prst="roundRect">
            <a:avLst>
              <a:gd name="adj" fmla="val 9000"/>
            </a:avLst>
          </a:prstGeom>
          <a:solidFill>
            <a:srgbClr val="271B45"/>
          </a:solidFill>
          <a:ln>
            <a:noFill/>
          </a:ln>
          <a:effectLst>
            <a:outerShdw blurRad="90000" dist="38100" dir="5400000" rotWithShape="0">
              <a:srgbClr val="3D2B63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Commit Gate</a:t>
            </a:r>
          </a:p>
          <a:p>
            <a:pPr algn="ctr">
              <a:spcBef>
                <a:spcPts val="300"/>
              </a:spcBef>
            </a:pPr>
            <a:r>
              <a:rPr sz="880" b="0" i="0">
                <a:solidFill>
                  <a:srgbClr val="EAE4F7"/>
                </a:solidFill>
                <a:latin typeface="Calibri"/>
              </a:rPr>
              <a:t>fingerprint still valid?</a:t>
            </a:r>
          </a:p>
        </p:txBody>
      </p:sp>
      <p:sp>
        <p:nvSpPr>
          <p:cNvPr id="125" name="Right Arrow 124"/>
          <p:cNvSpPr/>
          <p:nvPr/>
        </p:nvSpPr>
        <p:spPr>
          <a:xfrm>
            <a:off x="9688068" y="2656332"/>
            <a:ext cx="256032" cy="16459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D2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ounded Rectangle 125"/>
          <p:cNvSpPr/>
          <p:nvPr/>
        </p:nvSpPr>
        <p:spPr>
          <a:xfrm>
            <a:off x="9944100" y="2258568"/>
            <a:ext cx="1604772" cy="960120"/>
          </a:xfrm>
          <a:prstGeom prst="roundRect">
            <a:avLst>
              <a:gd name="adj" fmla="val 9000"/>
            </a:avLst>
          </a:prstGeom>
          <a:solidFill>
            <a:srgbClr val="704EA6"/>
          </a:solidFill>
          <a:ln>
            <a:noFill/>
          </a:ln>
          <a:effectLst>
            <a:outerShdw blurRad="90000" dist="38100" dir="5400000" rotWithShape="0">
              <a:srgbClr val="3D2B63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Versioned State Store</a:t>
            </a:r>
          </a:p>
          <a:p>
            <a:pPr algn="ctr">
              <a:spcBef>
                <a:spcPts val="300"/>
              </a:spcBef>
            </a:pPr>
            <a:r>
              <a:rPr sz="880" b="0" i="0">
                <a:solidFill>
                  <a:srgbClr val="EAE4F7"/>
                </a:solidFill>
                <a:latin typeface="Calibri"/>
              </a:rPr>
              <a:t>commits the result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6222492" y="4087368"/>
            <a:ext cx="1604772" cy="777240"/>
          </a:xfrm>
          <a:prstGeom prst="roundRect">
            <a:avLst>
              <a:gd name="adj" fmla="val 9000"/>
            </a:avLst>
          </a:prstGeom>
          <a:solidFill>
            <a:srgbClr val="F3F0FA"/>
          </a:solidFill>
          <a:ln>
            <a:noFill/>
          </a:ln>
          <a:effectLst>
            <a:outerShdw blurRad="90000" dist="38100" dir="5400000" rotWithShape="0">
              <a:srgbClr val="3D2B63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295644" y="4178808"/>
            <a:ext cx="1458468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 b="1" i="0">
                <a:solidFill>
                  <a:srgbClr val="3D2B63"/>
                </a:solidFill>
                <a:latin typeface="Calibri"/>
              </a:rPr>
              <a:t>Tool Registry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30" b="0" i="0">
                <a:solidFill>
                  <a:srgbClr val="242133"/>
                </a:solidFill>
                <a:latin typeface="Calibri"/>
              </a:rPr>
              <a:t>FDB-v3 mock tools + in-car extension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7024878" y="3218688"/>
            <a:ext cx="0" cy="868680"/>
          </a:xfrm>
          <a:prstGeom prst="line">
            <a:avLst/>
          </a:prstGeom>
          <a:ln w="19050">
            <a:solidFill>
              <a:srgbClr val="3D2B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ounded Rectangle 129"/>
          <p:cNvSpPr/>
          <p:nvPr/>
        </p:nvSpPr>
        <p:spPr>
          <a:xfrm>
            <a:off x="8083296" y="4087368"/>
            <a:ext cx="1604772" cy="777240"/>
          </a:xfrm>
          <a:prstGeom prst="roundRect">
            <a:avLst>
              <a:gd name="adj" fmla="val 9000"/>
            </a:avLst>
          </a:prstGeom>
          <a:solidFill>
            <a:srgbClr val="F6E9E9"/>
          </a:solidFill>
          <a:ln>
            <a:noFill/>
          </a:ln>
          <a:effectLst>
            <a:outerShdw blurRad="90000" dist="38100" dir="5400000" rotWithShape="0">
              <a:srgbClr val="3D2B63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8156448" y="4160520"/>
            <a:ext cx="145846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050" b="1" i="0">
                <a:solidFill>
                  <a:srgbClr val="B43B3B"/>
                </a:solidFill>
                <a:latin typeface="Calibri"/>
              </a:rPr>
              <a:t>Reconciler</a:t>
            </a:r>
          </a:p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800" b="0" i="0">
                <a:solidFill>
                  <a:srgbClr val="B43B3B"/>
                </a:solidFill>
                <a:latin typeface="Calibri"/>
              </a:rPr>
              <a:t>discards stale results, tells the executor to re-issue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8885682" y="3218688"/>
            <a:ext cx="0" cy="868680"/>
          </a:xfrm>
          <a:prstGeom prst="line">
            <a:avLst/>
          </a:prstGeom>
          <a:ln w="19050">
            <a:solidFill>
              <a:srgbClr val="B43B3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ounded Rectangle 132"/>
          <p:cNvSpPr/>
          <p:nvPr/>
        </p:nvSpPr>
        <p:spPr>
          <a:xfrm>
            <a:off x="640080" y="5120640"/>
            <a:ext cx="10908792" cy="603504"/>
          </a:xfrm>
          <a:prstGeom prst="roundRect">
            <a:avLst>
              <a:gd name="adj" fmla="val 12000"/>
            </a:avLst>
          </a:prstGeom>
          <a:solidFill>
            <a:srgbClr val="271B45"/>
          </a:solidFill>
          <a:ln>
            <a:noFill/>
          </a:ln>
          <a:effectLst>
            <a:outerShdw blurRad="90000" dist="38100" dir="5400000" rotWithShape="0">
              <a:srgbClr val="3D2B63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896112" y="5212080"/>
            <a:ext cx="1039672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C87B1F"/>
                </a:solidFill>
                <a:latin typeface="Calibri"/>
              </a:rPr>
              <a:t>The stale-result firewall: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a result only commits if its fingerprint still matches current state — self-correction handled by construction, not by prompting.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3000" b="1" i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sp>
        <p:nvSpPr>
          <p:cNvPr id="120" name="Google Shape;120;p5"/>
          <p:cNvSpPr txBox="1">
            <a:spLocks noGrp="1"/>
          </p:cNvSpPr>
          <p:nvPr>
            <p:ph type="body" idx="1"/>
          </p:nvPr>
        </p:nvSpPr>
        <p:spPr>
          <a:xfrm flipH="1">
            <a:off x="11353800" y="6089903"/>
            <a:ext cx="838200" cy="109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.</a:t>
            </a:r>
            <a:endParaRPr dirty="0"/>
          </a:p>
        </p:txBody>
      </p:sp>
      <p:sp>
        <p:nvSpPr>
          <p:cNvPr id="121" name="TextBox 120"/>
          <p:cNvSpPr txBox="1"/>
          <p:nvPr/>
        </p:nvSpPr>
        <p:spPr>
          <a:xfrm>
            <a:off x="640080" y="169164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>
                <a:solidFill>
                  <a:srgbClr val="6B667A"/>
                </a:solidFill>
                <a:latin typeface="Calibri"/>
              </a:rPr>
              <a:t>One video, two clips — a real interruption on the benchmark, then the extension use case, end to end.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640080" y="2194560"/>
            <a:ext cx="5271516" cy="416052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  <a:effectLst>
            <a:outerShdw blurRad="90000" dist="38100" dir="5400000" rotWithShape="0">
              <a:srgbClr val="3D2B63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914400" y="2414016"/>
            <a:ext cx="47228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500" b="1" i="0" dirty="0">
                <a:solidFill>
                  <a:srgbClr val="3D2B63"/>
                </a:solidFill>
                <a:latin typeface="Calibri"/>
              </a:rPr>
              <a:t>Clip 1 — FDB-v3 benchmark</a:t>
            </a:r>
          </a:p>
        </p:txBody>
      </p:sp>
      <p:sp>
        <p:nvSpPr>
          <p:cNvPr id="124" name="Oval 123"/>
          <p:cNvSpPr/>
          <p:nvPr/>
        </p:nvSpPr>
        <p:spPr>
          <a:xfrm>
            <a:off x="941832" y="3026664"/>
            <a:ext cx="402336" cy="402336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463040" y="2971800"/>
            <a:ext cx="4174236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242133"/>
                </a:solidFill>
                <a:latin typeface="Calibri"/>
              </a:rPr>
              <a:t>User books a flight: “Book me a flight to Rome on June 1st— actually, wait, make that Milan, June 3rd.”</a:t>
            </a:r>
          </a:p>
        </p:txBody>
      </p:sp>
      <p:sp>
        <p:nvSpPr>
          <p:cNvPr id="126" name="Oval 125"/>
          <p:cNvSpPr/>
          <p:nvPr/>
        </p:nvSpPr>
        <p:spPr>
          <a:xfrm>
            <a:off x="941832" y="4105656"/>
            <a:ext cx="402336" cy="402336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463040" y="4050792"/>
            <a:ext cx="4174236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242133"/>
                </a:solidFill>
                <a:latin typeface="Calibri"/>
              </a:rPr>
              <a:t>RePlan freezes the in-flight Rome/June 1 call the instant the correction lands — no dead air.</a:t>
            </a:r>
          </a:p>
        </p:txBody>
      </p:sp>
      <p:sp>
        <p:nvSpPr>
          <p:cNvPr id="128" name="Oval 127"/>
          <p:cNvSpPr/>
          <p:nvPr/>
        </p:nvSpPr>
        <p:spPr>
          <a:xfrm>
            <a:off x="941832" y="5184648"/>
            <a:ext cx="402336" cy="402336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463040" y="5129784"/>
            <a:ext cx="4174236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242133"/>
                </a:solidFill>
                <a:latin typeface="Calibri"/>
              </a:rPr>
              <a:t>Commit gate rejects the stale fingerprint; the executor re-issues with Milan/June 3 and books correctly.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6277356" y="2194560"/>
            <a:ext cx="5271516" cy="416052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  <a:effectLst>
            <a:outerShdw blurRad="90000" dist="38100" dir="5400000" rotWithShape="0">
              <a:srgbClr val="3D2B63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6551676" y="2414016"/>
            <a:ext cx="47228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500" b="1" i="0">
                <a:solidFill>
                  <a:srgbClr val="3D2B63"/>
                </a:solidFill>
                <a:latin typeface="Calibri"/>
              </a:rPr>
              <a:t>Clip 2 — in-car extension</a:t>
            </a:r>
          </a:p>
        </p:txBody>
      </p:sp>
      <p:sp>
        <p:nvSpPr>
          <p:cNvPr id="132" name="Oval 131"/>
          <p:cNvSpPr/>
          <p:nvPr/>
        </p:nvSpPr>
        <p:spPr>
          <a:xfrm>
            <a:off x="6579108" y="3026664"/>
            <a:ext cx="402336" cy="402336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100316" y="2971800"/>
            <a:ext cx="4174236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242133"/>
                </a:solidFill>
                <a:latin typeface="Calibri"/>
              </a:rPr>
              <a:t>Driver says “navigate to the office— no, take me to the airport instead.”</a:t>
            </a:r>
          </a:p>
        </p:txBody>
      </p:sp>
      <p:sp>
        <p:nvSpPr>
          <p:cNvPr id="134" name="Oval 133"/>
          <p:cNvSpPr/>
          <p:nvPr/>
        </p:nvSpPr>
        <p:spPr>
          <a:xfrm>
            <a:off x="6579108" y="4105656"/>
            <a:ext cx="402336" cy="402336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100316" y="4050792"/>
            <a:ext cx="4174236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242133"/>
                </a:solidFill>
                <a:latin typeface="Calibri"/>
              </a:rPr>
              <a:t>A stale set_destination(office) call is already in flight when the correction arrives.</a:t>
            </a:r>
          </a:p>
        </p:txBody>
      </p:sp>
      <p:sp>
        <p:nvSpPr>
          <p:cNvPr id="136" name="Oval 135"/>
          <p:cNvSpPr/>
          <p:nvPr/>
        </p:nvSpPr>
        <p:spPr>
          <a:xfrm>
            <a:off x="6579108" y="5184648"/>
            <a:ext cx="402336" cy="402336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100316" y="5129784"/>
            <a:ext cx="4174236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242133"/>
                </a:solidFill>
                <a:latin typeface="Calibri"/>
              </a:rPr>
              <a:t>RePlan discards it before it reaches navigation and routes to the airport — visible live in the evidence console.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3000" b="1" i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6" name="Google Shape;126;p6"/>
          <p:cNvSpPr txBox="1">
            <a:spLocks noGrp="1"/>
          </p:cNvSpPr>
          <p:nvPr>
            <p:ph type="body" idx="1"/>
          </p:nvPr>
        </p:nvSpPr>
        <p:spPr>
          <a:xfrm flipH="1" flipV="1">
            <a:off x="11353800" y="6176962"/>
            <a:ext cx="195072" cy="20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32500" lnSpcReduction="20000"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.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127" name="Rounded Rectangle 126"/>
          <p:cNvSpPr/>
          <p:nvPr/>
        </p:nvSpPr>
        <p:spPr>
          <a:xfrm>
            <a:off x="640080" y="1691640"/>
            <a:ext cx="3483864" cy="420624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  <a:effectLst>
            <a:outerShdw blurRad="90000" dist="38100" dir="5400000" rotWithShape="0">
              <a:srgbClr val="3D2B63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ounded Rectangle 127"/>
          <p:cNvSpPr/>
          <p:nvPr/>
        </p:nvSpPr>
        <p:spPr>
          <a:xfrm>
            <a:off x="640080" y="1691640"/>
            <a:ext cx="3483864" cy="566928"/>
          </a:xfrm>
          <a:prstGeom prst="roundRect">
            <a:avLst>
              <a:gd name="adj" fmla="val 14000"/>
            </a:avLst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640080" y="1975104"/>
            <a:ext cx="3483864" cy="283464"/>
          </a:xfrm>
          <a:prstGeom prst="rect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841247" y="1810512"/>
            <a:ext cx="30815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Runtime &amp; Voice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59536" y="2496312"/>
            <a:ext cx="3044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1" i="0">
                <a:solidFill>
                  <a:srgbClr val="3D2B63"/>
                </a:solidFill>
                <a:latin typeface="Calibri"/>
              </a:rPr>
              <a:t>LiveKit Agents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59536" y="2788920"/>
            <a:ext cx="3044952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242133"/>
                </a:solidFill>
                <a:latin typeface="Calibri"/>
              </a:rPr>
              <a:t>voice runtime, turn detection, barge-in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59536" y="3538728"/>
            <a:ext cx="3044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1" i="0">
                <a:solidFill>
                  <a:srgbClr val="3D2B63"/>
                </a:solidFill>
                <a:latin typeface="Calibri"/>
              </a:rPr>
              <a:t>FDB-v3 harness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59536" y="3831336"/>
            <a:ext cx="3044952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242133"/>
                </a:solidFill>
                <a:latin typeface="Calibri"/>
              </a:rPr>
              <a:t>benchmark + official evaluation scripts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59536" y="4581144"/>
            <a:ext cx="3044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1" i="0">
                <a:solidFill>
                  <a:srgbClr val="3D2B63"/>
                </a:solidFill>
                <a:latin typeface="Calibri"/>
              </a:rPr>
              <a:t>Realtime / cascaded templates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59536" y="4873752"/>
            <a:ext cx="3044952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242133"/>
                </a:solidFill>
                <a:latin typeface="Calibri"/>
              </a:rPr>
              <a:t>GPT-Realtime, Gemini Live, or Whisper+LLM+TTS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4352544" y="1691640"/>
            <a:ext cx="3483864" cy="420624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  <a:effectLst>
            <a:outerShdw blurRad="90000" dist="38100" dir="5400000" rotWithShape="0">
              <a:srgbClr val="3D2B63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ounded Rectangle 137"/>
          <p:cNvSpPr/>
          <p:nvPr/>
        </p:nvSpPr>
        <p:spPr>
          <a:xfrm>
            <a:off x="4352544" y="1691640"/>
            <a:ext cx="3483864" cy="566928"/>
          </a:xfrm>
          <a:prstGeom prst="roundRect">
            <a:avLst>
              <a:gd name="adj" fmla="val 14000"/>
            </a:avLst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4352544" y="1975104"/>
            <a:ext cx="3483864" cy="283464"/>
          </a:xfrm>
          <a:prstGeom prst="rect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4553712" y="1810512"/>
            <a:ext cx="30815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Core Engine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572000" y="2496312"/>
            <a:ext cx="3044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1" i="0">
                <a:solidFill>
                  <a:srgbClr val="3D2B63"/>
                </a:solidFill>
                <a:latin typeface="Calibri"/>
              </a:rPr>
              <a:t>Python 3 + asyncio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572000" y="2788920"/>
            <a:ext cx="3044952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242133"/>
                </a:solidFill>
                <a:latin typeface="Calibri"/>
              </a:rPr>
              <a:t>deterministic virtual clock, event loop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572000" y="3538728"/>
            <a:ext cx="3044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1" i="0">
                <a:solidFill>
                  <a:srgbClr val="3D2B63"/>
                </a:solidFill>
                <a:latin typeface="Calibri"/>
              </a:rPr>
              <a:t>Pydantic v2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572000" y="3831336"/>
            <a:ext cx="3044952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242133"/>
                </a:solidFill>
                <a:latin typeface="Calibri"/>
              </a:rPr>
              <a:t>frozen schemas — the contracts every module shares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572000" y="4581144"/>
            <a:ext cx="3044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1" i="0">
                <a:solidFill>
                  <a:srgbClr val="3D2B63"/>
                </a:solidFill>
                <a:latin typeface="Calibri"/>
              </a:rPr>
              <a:t>SHA-256 fingerprinting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572000" y="4873752"/>
            <a:ext cx="3044952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242133"/>
                </a:solidFill>
                <a:latin typeface="Calibri"/>
              </a:rPr>
              <a:t>content-addressed state, stale-result detection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8065008" y="1691640"/>
            <a:ext cx="3483864" cy="420624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  <a:effectLst>
            <a:outerShdw blurRad="90000" dist="38100" dir="5400000" rotWithShape="0">
              <a:srgbClr val="3D2B63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ounded Rectangle 147"/>
          <p:cNvSpPr/>
          <p:nvPr/>
        </p:nvSpPr>
        <p:spPr>
          <a:xfrm>
            <a:off x="8065008" y="1691640"/>
            <a:ext cx="3483864" cy="566928"/>
          </a:xfrm>
          <a:prstGeom prst="roundRect">
            <a:avLst>
              <a:gd name="adj" fmla="val 14000"/>
            </a:avLst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8065008" y="1975104"/>
            <a:ext cx="3483864" cy="283464"/>
          </a:xfrm>
          <a:prstGeom prst="rect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8266176" y="1810512"/>
            <a:ext cx="30815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Quality &amp; Evidence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284464" y="2496312"/>
            <a:ext cx="3044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1" i="0">
                <a:solidFill>
                  <a:srgbClr val="3D2B63"/>
                </a:solidFill>
                <a:latin typeface="Calibri"/>
              </a:rPr>
              <a:t>pytest + Hypothesis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284464" y="2788920"/>
            <a:ext cx="3044952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242133"/>
                </a:solidFill>
                <a:latin typeface="Calibri"/>
              </a:rPr>
              <a:t>property-based tests, written from the contract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284464" y="3538728"/>
            <a:ext cx="3044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1" i="0">
                <a:solidFill>
                  <a:srgbClr val="3D2B63"/>
                </a:solidFill>
                <a:latin typeface="Calibri"/>
              </a:rPr>
              <a:t>GitHub Actions CI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284464" y="3831336"/>
            <a:ext cx="3044952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242133"/>
                </a:solidFill>
                <a:latin typeface="Calibri"/>
              </a:rPr>
              <a:t>banned-pattern grep + full suite on every push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284464" y="4581144"/>
            <a:ext cx="3044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1" i="0">
                <a:solidFill>
                  <a:srgbClr val="3D2B63"/>
                </a:solidFill>
                <a:latin typeface="Calibri"/>
              </a:rPr>
              <a:t>React + TypeScript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284464" y="4873752"/>
            <a:ext cx="3044952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242133"/>
                </a:solidFill>
                <a:latin typeface="Calibri"/>
              </a:rPr>
              <a:t>the live evidence console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3000" b="1" i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Google Shape;132;p7"/>
          <p:cNvSpPr txBox="1">
            <a:spLocks noGrp="1"/>
          </p:cNvSpPr>
          <p:nvPr>
            <p:ph type="body" idx="1"/>
          </p:nvPr>
        </p:nvSpPr>
        <p:spPr>
          <a:xfrm>
            <a:off x="10938510" y="6131243"/>
            <a:ext cx="415290" cy="45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.</a:t>
            </a:r>
            <a:endParaRPr dirty="0"/>
          </a:p>
        </p:txBody>
      </p:sp>
      <p:sp>
        <p:nvSpPr>
          <p:cNvPr id="133" name="TextBox 132"/>
          <p:cNvSpPr txBox="1"/>
          <p:nvPr/>
        </p:nvSpPr>
        <p:spPr>
          <a:xfrm>
            <a:off x="640080" y="1691640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6B667A"/>
                </a:solidFill>
                <a:latin typeface="Calibri"/>
              </a:rPr>
              <a:t>Scored across four benchmark domains — extended to a real-world, safety-relevant fifth.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640080" y="2148840"/>
            <a:ext cx="2555748" cy="105156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  <a:effectLst>
            <a:outerShdw blurRad="90000" dist="38100" dir="5400000" rotWithShape="0">
              <a:srgbClr val="3D2B63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1707642" y="2258568"/>
            <a:ext cx="420624" cy="420624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94944" y="2770632"/>
            <a:ext cx="24460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30" b="1" i="0">
                <a:solidFill>
                  <a:srgbClr val="3D2B63"/>
                </a:solidFill>
                <a:latin typeface="Calibri"/>
              </a:rPr>
              <a:t>Travel &amp; Identity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3424428" y="2148840"/>
            <a:ext cx="2555748" cy="105156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  <a:effectLst>
            <a:outerShdw blurRad="90000" dist="38100" dir="5400000" rotWithShape="0">
              <a:srgbClr val="3D2B63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4491990" y="2258568"/>
            <a:ext cx="420624" cy="420624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479292" y="2770632"/>
            <a:ext cx="24460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30" b="1" i="0">
                <a:solidFill>
                  <a:srgbClr val="3D2B63"/>
                </a:solidFill>
                <a:latin typeface="Calibri"/>
              </a:rPr>
              <a:t>Finance &amp; Billing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6208776" y="2148840"/>
            <a:ext cx="2555748" cy="105156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  <a:effectLst>
            <a:outerShdw blurRad="90000" dist="38100" dir="5400000" rotWithShape="0">
              <a:srgbClr val="3D2B63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Oval 140"/>
          <p:cNvSpPr/>
          <p:nvPr/>
        </p:nvSpPr>
        <p:spPr>
          <a:xfrm>
            <a:off x="7276338" y="2258568"/>
            <a:ext cx="420624" cy="420624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263640" y="2770632"/>
            <a:ext cx="24460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30" b="1" i="0">
                <a:solidFill>
                  <a:srgbClr val="3D2B63"/>
                </a:solidFill>
                <a:latin typeface="Calibri"/>
              </a:rPr>
              <a:t>Housing &amp; Location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8993124" y="2148840"/>
            <a:ext cx="2555748" cy="105156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  <a:effectLst>
            <a:outerShdw blurRad="90000" dist="38100" dir="5400000" rotWithShape="0">
              <a:srgbClr val="3D2B63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10060686" y="2258568"/>
            <a:ext cx="420624" cy="420624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047988" y="2770632"/>
            <a:ext cx="24460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30" b="1" i="0">
                <a:solidFill>
                  <a:srgbClr val="3D2B63"/>
                </a:solidFill>
                <a:latin typeface="Calibri"/>
              </a:rPr>
              <a:t>E-Commerce Support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640080" y="3520440"/>
            <a:ext cx="10908792" cy="2331720"/>
          </a:xfrm>
          <a:prstGeom prst="roundRect">
            <a:avLst>
              <a:gd name="adj" fmla="val 6000"/>
            </a:avLst>
          </a:prstGeom>
          <a:solidFill>
            <a:srgbClr val="271B45"/>
          </a:solidFill>
          <a:ln>
            <a:noFill/>
          </a:ln>
          <a:effectLst>
            <a:outerShdw blurRad="90000" dist="38100" dir="5400000" rotWithShape="0">
              <a:srgbClr val="3D2B63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960119" y="3721608"/>
            <a:ext cx="102687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600" b="1" i="0">
                <a:solidFill>
                  <a:srgbClr val="C87B1F"/>
                </a:solidFill>
                <a:latin typeface="Calibri"/>
              </a:rPr>
              <a:t>Extension use case — in-car destination change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60119" y="4206240"/>
            <a:ext cx="1026871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A driver mid-route says “take me to the airport instead” while the car is already routing to a stale destination. Every published system in this domain locks in the pre-correction value — exactly the failure the guide calls out as unsolved.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960119" y="4937760"/>
            <a:ext cx="4951476" cy="713232"/>
          </a:xfrm>
          <a:prstGeom prst="roundRect">
            <a:avLst>
              <a:gd name="adj" fmla="val 14000"/>
            </a:avLst>
          </a:prstGeom>
          <a:solidFill>
            <a:srgbClr val="4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1142999" y="5056632"/>
            <a:ext cx="458571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F2B8B8"/>
                </a:solidFill>
                <a:latin typeface="Calibri"/>
              </a:rPr>
              <a:t>Without RePlan: </a:t>
            </a:r>
            <a:r>
              <a:rPr sz="1100" b="0" i="0">
                <a:solidFill>
                  <a:srgbClr val="F2B8B8"/>
                </a:solidFill>
                <a:latin typeface="Calibri"/>
              </a:rPr>
              <a:t>car keeps routing to the old destination for several seconds after the correction.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6277356" y="4937760"/>
            <a:ext cx="4951476" cy="713232"/>
          </a:xfrm>
          <a:prstGeom prst="roundRect">
            <a:avLst>
              <a:gd name="adj" fmla="val 14000"/>
            </a:avLst>
          </a:prstGeom>
          <a:solidFill>
            <a:srgbClr val="254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6460236" y="5056632"/>
            <a:ext cx="458571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B9E8CB"/>
                </a:solidFill>
                <a:latin typeface="Calibri"/>
              </a:rPr>
              <a:t>With RePlan: </a:t>
            </a:r>
            <a:r>
              <a:rPr sz="1100" b="0" i="0">
                <a:solidFill>
                  <a:srgbClr val="B9E8CB"/>
                </a:solidFill>
                <a:latin typeface="Calibri"/>
              </a:rPr>
              <a:t>stale route command is rejected before it reaches navigation — visible live in the evidence console.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3000" b="1" i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Innovation, Results &amp; Limitations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38" name="Google Shape;138;p8"/>
          <p:cNvSpPr txBox="1">
            <a:spLocks noGrp="1"/>
          </p:cNvSpPr>
          <p:nvPr>
            <p:ph type="body" idx="1"/>
          </p:nvPr>
        </p:nvSpPr>
        <p:spPr>
          <a:xfrm flipH="1" flipV="1">
            <a:off x="11353799" y="6176962"/>
            <a:ext cx="45719" cy="45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.</a:t>
            </a:r>
            <a:endParaRPr dirty="0"/>
          </a:p>
        </p:txBody>
      </p:sp>
      <p:sp>
        <p:nvSpPr>
          <p:cNvPr id="139" name="TextBox 138"/>
          <p:cNvSpPr txBox="1"/>
          <p:nvPr/>
        </p:nvSpPr>
        <p:spPr>
          <a:xfrm>
            <a:off x="640080" y="1691640"/>
            <a:ext cx="632709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1" i="0">
                <a:solidFill>
                  <a:srgbClr val="3D2B63"/>
                </a:solidFill>
                <a:latin typeface="Calibri"/>
              </a:rPr>
              <a:t>INNOVATION HIGHLIGHTS</a:t>
            </a:r>
          </a:p>
        </p:txBody>
      </p:sp>
      <p:sp>
        <p:nvSpPr>
          <p:cNvPr id="140" name="Oval 139"/>
          <p:cNvSpPr/>
          <p:nvPr/>
        </p:nvSpPr>
        <p:spPr>
          <a:xfrm>
            <a:off x="667512" y="2121408"/>
            <a:ext cx="457200" cy="45720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298448" y="2057400"/>
            <a:ext cx="55955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00" b="1" i="0">
                <a:solidFill>
                  <a:srgbClr val="3D2B63"/>
                </a:solidFill>
                <a:latin typeface="Calibri"/>
              </a:rPr>
              <a:t>Content-addressed fingerprints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298448" y="2350008"/>
            <a:ext cx="559557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60" b="0" i="0">
                <a:solidFill>
                  <a:srgbClr val="242133"/>
                </a:solidFill>
                <a:latin typeface="Calibri"/>
              </a:rPr>
              <a:t>Every tool call is hashed against the exact state it read. A result whose fingerprint no longer matches current state is rejected on arrival — not patched after the fact.</a:t>
            </a:r>
          </a:p>
        </p:txBody>
      </p:sp>
      <p:sp>
        <p:nvSpPr>
          <p:cNvPr id="143" name="Oval 142"/>
          <p:cNvSpPr/>
          <p:nvPr/>
        </p:nvSpPr>
        <p:spPr>
          <a:xfrm>
            <a:off x="667512" y="3328416"/>
            <a:ext cx="457200" cy="45720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298448" y="3264408"/>
            <a:ext cx="55955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00" b="1" i="0">
                <a:solidFill>
                  <a:srgbClr val="3D2B63"/>
                </a:solidFill>
                <a:latin typeface="Calibri"/>
              </a:rPr>
              <a:t>Freeze, not kill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298448" y="3557016"/>
            <a:ext cx="559557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60" b="0" i="0" dirty="0">
                <a:solidFill>
                  <a:srgbClr val="242133"/>
                </a:solidFill>
                <a:latin typeface="Calibri"/>
              </a:rPr>
              <a:t>A correction mid-flight freezes the in-flight call instead of cancelling it outright, so a result that turns out to still be valid isn't wastefully re-run.</a:t>
            </a:r>
          </a:p>
        </p:txBody>
      </p:sp>
      <p:sp>
        <p:nvSpPr>
          <p:cNvPr id="146" name="Oval 145"/>
          <p:cNvSpPr/>
          <p:nvPr/>
        </p:nvSpPr>
        <p:spPr>
          <a:xfrm>
            <a:off x="667512" y="4535424"/>
            <a:ext cx="457200" cy="45720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98448" y="4471416"/>
            <a:ext cx="55955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00" b="1" i="0">
                <a:solidFill>
                  <a:srgbClr val="3D2B63"/>
                </a:solidFill>
                <a:latin typeface="Calibri"/>
              </a:rPr>
              <a:t>Two-phase reservation + compensation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298448" y="4764024"/>
            <a:ext cx="559557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60" b="0" i="0">
                <a:solidFill>
                  <a:srgbClr val="242133"/>
                </a:solidFill>
                <a:latin typeface="Calibri"/>
              </a:rPr>
              <a:t>State-changing tools reserve before they commit, with a compensator ready for every reversible effect — so a rejected call leaves nothing dangling.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7287219" y="1691640"/>
            <a:ext cx="4261652" cy="2514600"/>
          </a:xfrm>
          <a:prstGeom prst="roundRect">
            <a:avLst>
              <a:gd name="adj" fmla="val 6000"/>
            </a:avLst>
          </a:prstGeom>
          <a:solidFill>
            <a:srgbClr val="271B45"/>
          </a:solidFill>
          <a:ln>
            <a:noFill/>
          </a:ln>
          <a:effectLst>
            <a:outerShdw blurRad="90000" dist="38100" dir="5400000" rotWithShape="0">
              <a:srgbClr val="3D2B63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7506675" y="1837944"/>
            <a:ext cx="38227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50" b="1" i="0">
                <a:solidFill>
                  <a:srgbClr val="C87B1F"/>
                </a:solidFill>
                <a:latin typeface="Calibri"/>
              </a:rPr>
              <a:t>OUR BEST RUN — FDB-v3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506675" y="2203704"/>
            <a:ext cx="32558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30" b="0" i="0">
                <a:solidFill>
                  <a:srgbClr val="FFFFFF"/>
                </a:solidFill>
                <a:latin typeface="Calibri"/>
              </a:rPr>
              <a:t>Tool Selection F1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771632" y="2203704"/>
            <a:ext cx="5943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250" b="1" i="0">
                <a:solidFill>
                  <a:srgbClr val="C87B1F"/>
                </a:solidFill>
                <a:latin typeface="Calibri"/>
              </a:rPr>
              <a:t>[__]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506675" y="2606040"/>
            <a:ext cx="32558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30" b="0" i="0">
                <a:solidFill>
                  <a:srgbClr val="FFFFFF"/>
                </a:solidFill>
                <a:latin typeface="Calibri"/>
              </a:rPr>
              <a:t>Argument Accuracy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771632" y="2606040"/>
            <a:ext cx="5943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250" b="1" i="0">
                <a:solidFill>
                  <a:srgbClr val="C87B1F"/>
                </a:solidFill>
                <a:latin typeface="Calibri"/>
              </a:rPr>
              <a:t>[__]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506675" y="3008376"/>
            <a:ext cx="32558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30" b="0" i="0">
                <a:solidFill>
                  <a:srgbClr val="FFFFFF"/>
                </a:solidFill>
                <a:latin typeface="Calibri"/>
              </a:rPr>
              <a:t>Pass@1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771632" y="3008376"/>
            <a:ext cx="5943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250" b="1" i="0">
                <a:solidFill>
                  <a:srgbClr val="C87B1F"/>
                </a:solidFill>
                <a:latin typeface="Calibri"/>
              </a:rPr>
              <a:t>[__]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506675" y="3410712"/>
            <a:ext cx="325581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30" b="0" i="0">
                <a:solidFill>
                  <a:srgbClr val="FFFFFF"/>
                </a:solidFill>
                <a:latin typeface="Calibri"/>
              </a:rPr>
              <a:t>Self-correction Pass@1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0771632" y="3410712"/>
            <a:ext cx="5943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1250" b="1" i="0">
                <a:solidFill>
                  <a:srgbClr val="C87B1F"/>
                </a:solidFill>
                <a:latin typeface="Calibri"/>
              </a:rPr>
              <a:t>[__]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506675" y="3886200"/>
            <a:ext cx="38227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30" b="0" i="1">
                <a:solidFill>
                  <a:srgbClr val="EAE4F7"/>
                </a:solidFill>
                <a:latin typeface="Calibri"/>
              </a:rPr>
              <a:t>fill from C12 run logs before submitting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7287219" y="4434840"/>
            <a:ext cx="4261652" cy="196596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  <a:effectLst>
            <a:outerShdw blurRad="90000" dist="38100" dir="5400000" rotWithShape="0">
              <a:srgbClr val="3D2B63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7506675" y="4572000"/>
            <a:ext cx="38227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050" b="1" i="0">
                <a:solidFill>
                  <a:srgbClr val="3D2B63"/>
                </a:solidFill>
                <a:latin typeface="Calibri"/>
              </a:rPr>
              <a:t>HONEST LIMITATIONS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506675" y="4855464"/>
            <a:ext cx="38227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704EA6"/>
                </a:solidFill>
                <a:latin typeface="Calibri"/>
              </a:rPr>
              <a:t>•  </a:t>
            </a:r>
            <a:r>
              <a:rPr sz="960" b="0" i="0">
                <a:solidFill>
                  <a:srgbClr val="242133"/>
                </a:solidFill>
                <a:latin typeface="Calibri"/>
              </a:rPr>
              <a:t>Self-correction handling is much improved, not solved — some double-correction cases still slip through.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7506675" y="5312664"/>
            <a:ext cx="38227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704EA6"/>
                </a:solidFill>
                <a:latin typeface="Calibri"/>
              </a:rPr>
              <a:t>•  </a:t>
            </a:r>
            <a:r>
              <a:rPr sz="960" b="0" i="0">
                <a:solidFill>
                  <a:srgbClr val="242133"/>
                </a:solidFill>
                <a:latin typeface="Calibri"/>
              </a:rPr>
              <a:t>Extension coverage is one domain (in-car) done well, not several done thinly.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506675" y="5769864"/>
            <a:ext cx="38227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704EA6"/>
                </a:solidFill>
                <a:latin typeface="Calibri"/>
              </a:rPr>
              <a:t>•  </a:t>
            </a:r>
            <a:r>
              <a:rPr sz="960" b="0" i="0">
                <a:solidFill>
                  <a:srgbClr val="242133"/>
                </a:solidFill>
                <a:latin typeface="Calibri"/>
              </a:rPr>
              <a:t>Freeze-not-kill trades a little latency for correctness on the hardest scenarios.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3000" b="1" i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What's Next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44" name="Google Shape;144;p9"/>
          <p:cNvSpPr txBox="1">
            <a:spLocks noGrp="1"/>
          </p:cNvSpPr>
          <p:nvPr>
            <p:ph type="body" idx="1"/>
          </p:nvPr>
        </p:nvSpPr>
        <p:spPr>
          <a:xfrm flipH="1">
            <a:off x="11353800" y="6131243"/>
            <a:ext cx="407670" cy="45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.</a:t>
            </a:r>
            <a:endParaRPr dirty="0"/>
          </a:p>
        </p:txBody>
      </p:sp>
      <p:sp>
        <p:nvSpPr>
          <p:cNvPr id="145" name="Rectangle 144"/>
          <p:cNvSpPr/>
          <p:nvPr/>
        </p:nvSpPr>
        <p:spPr>
          <a:xfrm>
            <a:off x="2003679" y="3639312"/>
            <a:ext cx="8181594" cy="36576"/>
          </a:xfrm>
          <a:prstGeom prst="rect">
            <a:avLst/>
          </a:prstGeom>
          <a:solidFill>
            <a:srgbClr val="DCD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1752219" y="3406140"/>
            <a:ext cx="502920" cy="50292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41247" y="4114800"/>
            <a:ext cx="232486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3D2B63"/>
                </a:solidFill>
                <a:latin typeface="Calibri"/>
              </a:rPr>
              <a:t>Broaden the extension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41247" y="4617720"/>
            <a:ext cx="232486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30" b="0" i="0">
                <a:solidFill>
                  <a:srgbClr val="242133"/>
                </a:solidFill>
                <a:latin typeface="Calibri"/>
              </a:rPr>
              <a:t>Device troubleshooting and a hands-free kitchen assistant, beyond in-car destination change.</a:t>
            </a:r>
          </a:p>
        </p:txBody>
      </p:sp>
      <p:sp>
        <p:nvSpPr>
          <p:cNvPr id="149" name="Oval 148"/>
          <p:cNvSpPr/>
          <p:nvPr/>
        </p:nvSpPr>
        <p:spPr>
          <a:xfrm>
            <a:off x="4479417" y="3406140"/>
            <a:ext cx="502920" cy="50292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68446" y="4114800"/>
            <a:ext cx="232486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3D2B63"/>
                </a:solidFill>
                <a:latin typeface="Calibri"/>
              </a:rPr>
              <a:t>Tighten the commit gate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568446" y="4617720"/>
            <a:ext cx="232486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30" b="0" i="0">
                <a:solidFill>
                  <a:srgbClr val="242133"/>
                </a:solidFill>
                <a:latin typeface="Calibri"/>
              </a:rPr>
              <a:t>Narrow fingerprint scope so valid results are never rejected as false positives.</a:t>
            </a:r>
          </a:p>
        </p:txBody>
      </p:sp>
      <p:sp>
        <p:nvSpPr>
          <p:cNvPr id="152" name="Oval 151"/>
          <p:cNvSpPr/>
          <p:nvPr/>
        </p:nvSpPr>
        <p:spPr>
          <a:xfrm>
            <a:off x="7206615" y="3406140"/>
            <a:ext cx="502920" cy="50292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295644" y="4114800"/>
            <a:ext cx="232486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3D2B63"/>
                </a:solidFill>
                <a:latin typeface="Calibri"/>
              </a:rPr>
              <a:t>Handle stacked corrections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95644" y="4617720"/>
            <a:ext cx="232486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30" b="0" i="0">
                <a:solidFill>
                  <a:srgbClr val="242133"/>
                </a:solidFill>
                <a:latin typeface="Calibri"/>
              </a:rPr>
              <a:t>Extend the hypothesis classifier beyond one pending correction at a time.</a:t>
            </a:r>
          </a:p>
        </p:txBody>
      </p:sp>
      <p:sp>
        <p:nvSpPr>
          <p:cNvPr id="155" name="Oval 154"/>
          <p:cNvSpPr/>
          <p:nvPr/>
        </p:nvSpPr>
        <p:spPr>
          <a:xfrm>
            <a:off x="9933813" y="3406140"/>
            <a:ext cx="502920" cy="50292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022842" y="4114800"/>
            <a:ext cx="232486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3D2B63"/>
                </a:solidFill>
                <a:latin typeface="Calibri"/>
              </a:rPr>
              <a:t>Round 2 hardening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022842" y="4617720"/>
            <a:ext cx="2324862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30" b="0" i="0">
                <a:solidFill>
                  <a:srgbClr val="242133"/>
                </a:solidFill>
                <a:latin typeface="Calibri"/>
              </a:rPr>
              <a:t>Latency and resilience tuning for a live jury demo, interrupted on stage.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40080" y="1737360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50" b="0" i="0">
                <a:solidFill>
                  <a:srgbClr val="6B667A"/>
                </a:solidFill>
                <a:latin typeface="Calibri"/>
              </a:rPr>
              <a:t>In priority order — each step builds on a Tier-1 mechanism that's already shipped, not a rewrite.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3000" b="1" i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Differentiation — Why RePlan, Not Another Wrapper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50" name="Google Shape;150;p10"/>
          <p:cNvSpPr txBox="1">
            <a:spLocks noGrp="1"/>
          </p:cNvSpPr>
          <p:nvPr>
            <p:ph type="body" idx="1"/>
          </p:nvPr>
        </p:nvSpPr>
        <p:spPr>
          <a:xfrm flipV="1">
            <a:off x="11212830" y="6126479"/>
            <a:ext cx="14097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.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151" name="Rounded Rectangle 150"/>
          <p:cNvSpPr/>
          <p:nvPr/>
        </p:nvSpPr>
        <p:spPr>
          <a:xfrm>
            <a:off x="640080" y="1691640"/>
            <a:ext cx="3465576" cy="196596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  <a:effectLst>
            <a:outerShdw blurRad="90000" dist="38100" dir="5400000" rotWithShape="0">
              <a:srgbClr val="3D2B63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ounded Rectangle 151"/>
          <p:cNvSpPr/>
          <p:nvPr/>
        </p:nvSpPr>
        <p:spPr>
          <a:xfrm>
            <a:off x="822959" y="1892808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822959" y="189280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298448" y="1892808"/>
            <a:ext cx="26243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1" i="0">
                <a:solidFill>
                  <a:srgbClr val="3D2B63"/>
                </a:solidFill>
                <a:latin typeface="Calibri"/>
              </a:rPr>
              <a:t>Fingerprint-based rejection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22959" y="2468880"/>
            <a:ext cx="3099816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30" b="0" i="0">
                <a:solidFill>
                  <a:srgbClr val="242133"/>
                </a:solidFill>
                <a:latin typeface="Calibri"/>
              </a:rPr>
              <a:t>Stale results are refused by construction — never patched after the fact, never a prompt trick.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4361688" y="1691640"/>
            <a:ext cx="3465576" cy="196596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  <a:effectLst>
            <a:outerShdw blurRad="90000" dist="38100" dir="5400000" rotWithShape="0">
              <a:srgbClr val="3D2B63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ounded Rectangle 156"/>
          <p:cNvSpPr/>
          <p:nvPr/>
        </p:nvSpPr>
        <p:spPr>
          <a:xfrm>
            <a:off x="4544568" y="1892808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4544568" y="189280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020056" y="1892808"/>
            <a:ext cx="26243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1" i="0">
                <a:solidFill>
                  <a:srgbClr val="3D2B63"/>
                </a:solidFill>
                <a:latin typeface="Calibri"/>
              </a:rPr>
              <a:t>Freeze, not kill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544568" y="2468880"/>
            <a:ext cx="3099816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30" b="0" i="0">
                <a:solidFill>
                  <a:srgbClr val="242133"/>
                </a:solidFill>
                <a:latin typeface="Calibri"/>
              </a:rPr>
              <a:t>A correction mid-flight suspends the in-flight call instead of discarding work that might still be valid.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8083296" y="1691640"/>
            <a:ext cx="3465576" cy="196596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  <a:effectLst>
            <a:outerShdw blurRad="90000" dist="38100" dir="5400000" rotWithShape="0">
              <a:srgbClr val="3D2B63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ounded Rectangle 161"/>
          <p:cNvSpPr/>
          <p:nvPr/>
        </p:nvSpPr>
        <p:spPr>
          <a:xfrm>
            <a:off x="8266175" y="1892808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8266175" y="189280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741664" y="1892808"/>
            <a:ext cx="26243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1" i="0">
                <a:solidFill>
                  <a:srgbClr val="3D2B63"/>
                </a:solidFill>
                <a:latin typeface="Calibri"/>
              </a:rPr>
              <a:t>Two-phase reservation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8266175" y="2468880"/>
            <a:ext cx="3099816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30" b="0" i="0">
                <a:solidFill>
                  <a:srgbClr val="242133"/>
                </a:solidFill>
                <a:latin typeface="Calibri"/>
              </a:rPr>
              <a:t>Every reversible effect ships with a compensator, so a rejected call never leaves state dangling.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640080" y="3913631"/>
            <a:ext cx="3465576" cy="196596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  <a:effectLst>
            <a:outerShdw blurRad="90000" dist="38100" dir="5400000" rotWithShape="0">
              <a:srgbClr val="3D2B63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ounded Rectangle 166"/>
          <p:cNvSpPr/>
          <p:nvPr/>
        </p:nvSpPr>
        <p:spPr>
          <a:xfrm>
            <a:off x="822959" y="4114799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822959" y="4114799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298448" y="4114799"/>
            <a:ext cx="26243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1" i="0">
                <a:solidFill>
                  <a:srgbClr val="3D2B63"/>
                </a:solidFill>
                <a:latin typeface="Calibri"/>
              </a:rPr>
              <a:t>Deterministic replay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822959" y="4690871"/>
            <a:ext cx="3099816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30" b="0" i="0">
                <a:solidFill>
                  <a:srgbClr val="242133"/>
                </a:solidFill>
                <a:latin typeface="Calibri"/>
              </a:rPr>
              <a:t>A virtual clock makes every run reproducible — including counterfactual “what if it hadn't been corrected” replays for debugging.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4361688" y="3913631"/>
            <a:ext cx="3465576" cy="196596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  <a:effectLst>
            <a:outerShdw blurRad="90000" dist="38100" dir="5400000" rotWithShape="0">
              <a:srgbClr val="3D2B63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ounded Rectangle 171"/>
          <p:cNvSpPr/>
          <p:nvPr/>
        </p:nvSpPr>
        <p:spPr>
          <a:xfrm>
            <a:off x="4544568" y="4114799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4544568" y="4114799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5020056" y="4114799"/>
            <a:ext cx="26243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1" i="0">
                <a:solidFill>
                  <a:srgbClr val="3D2B63"/>
                </a:solidFill>
                <a:latin typeface="Calibri"/>
              </a:rPr>
              <a:t>Live baseline comparison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544568" y="4690871"/>
            <a:ext cx="3099816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30" b="0" i="0">
                <a:solidFill>
                  <a:srgbClr val="242133"/>
                </a:solidFill>
                <a:latin typeface="Calibri"/>
              </a:rPr>
              <a:t>The evidence console runs RePlan next to a naive last-message-wins policy, live, with a wrong-action counter for each.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8083296" y="3913631"/>
            <a:ext cx="3465576" cy="1965960"/>
          </a:xfrm>
          <a:prstGeom prst="roundRect">
            <a:avLst>
              <a:gd name="adj" fmla="val 6000"/>
            </a:avLst>
          </a:prstGeom>
          <a:solidFill>
            <a:srgbClr val="F3F0FA"/>
          </a:solidFill>
          <a:ln>
            <a:noFill/>
          </a:ln>
          <a:effectLst>
            <a:outerShdw blurRad="90000" dist="38100" dir="5400000" rotWithShape="0">
              <a:srgbClr val="3D2B63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ounded Rectangle 176"/>
          <p:cNvSpPr/>
          <p:nvPr/>
        </p:nvSpPr>
        <p:spPr>
          <a:xfrm>
            <a:off x="8266175" y="4114799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8266175" y="4114799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8741664" y="4114799"/>
            <a:ext cx="26243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1" i="0">
                <a:solidFill>
                  <a:srgbClr val="3D2B63"/>
                </a:solidFill>
                <a:latin typeface="Calibri"/>
              </a:rPr>
              <a:t>Honest limitations, on camera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266175" y="4690871"/>
            <a:ext cx="3099816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30" b="0" i="0">
                <a:solidFill>
                  <a:srgbClr val="242133"/>
                </a:solidFill>
                <a:latin typeface="Calibri"/>
              </a:rPr>
              <a:t>The README and video name what doesn't work yet, not just what does — not a highlight reel.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0735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lang="en-US" sz="4600" b="1" i="0" u="none" strike="noStrike" cap="none" dirty="0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4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1046181" y="4850892"/>
            <a:ext cx="7772400" cy="1874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</a:pPr>
            <a:r>
              <a:rPr sz="1200" b="0" i="0" dirty="0">
                <a:solidFill>
                  <a:srgbClr val="6B667A"/>
                </a:solidFill>
                <a:latin typeface="Calibri"/>
              </a:rPr>
              <a:t>GitHub: </a:t>
            </a:r>
            <a:r>
              <a:rPr lang="en-IN" sz="1200" dirty="0">
                <a:solidFill>
                  <a:srgbClr val="6B667A"/>
                </a:solidFill>
                <a:latin typeface="Calibri"/>
              </a:rPr>
              <a:t>https://</a:t>
            </a:r>
            <a:r>
              <a:rPr lang="en-IN" sz="1200" dirty="0" err="1">
                <a:solidFill>
                  <a:srgbClr val="6B667A"/>
                </a:solidFill>
                <a:latin typeface="Calibri"/>
              </a:rPr>
              <a:t>github.com</a:t>
            </a:r>
            <a:r>
              <a:rPr lang="en-IN" sz="1200" dirty="0">
                <a:solidFill>
                  <a:srgbClr val="6B667A"/>
                </a:solidFill>
                <a:latin typeface="Calibri"/>
              </a:rPr>
              <a:t>/LAKSHYA2517/Replan</a:t>
            </a:r>
            <a:r>
              <a:rPr sz="1200" b="0" i="0" dirty="0">
                <a:solidFill>
                  <a:srgbClr val="6B667A"/>
                </a:solidFill>
                <a:latin typeface="Calibri"/>
              </a:rPr>
              <a:t>·   Contact: </a:t>
            </a:r>
            <a:r>
              <a:rPr lang="en-US" sz="1200" dirty="0">
                <a:solidFill>
                  <a:srgbClr val="6B667A"/>
                </a:solidFill>
                <a:latin typeface="Calibri"/>
              </a:rPr>
              <a:t>lakshya.asnani2024</a:t>
            </a:r>
            <a:r>
              <a:rPr lang="en-US" sz="12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@vitstudent.ac.in</a:t>
            </a:r>
            <a:endParaRPr sz="1200" b="0" i="0" dirty="0">
              <a:solidFill>
                <a:srgbClr val="6B667A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1481</Words>
  <Application>Microsoft Macintosh PowerPoint</Application>
  <PresentationFormat>Widescreen</PresentationFormat>
  <Paragraphs>184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Theme 05 — Interruptible Real-Time Agents</vt:lpstr>
      <vt:lpstr>Existing Solutions &amp; Gaps</vt:lpstr>
      <vt:lpstr>Our Solution — RePlan Architecture</vt:lpstr>
      <vt:lpstr>Demo &amp; Product Walkthrough</vt:lpstr>
      <vt:lpstr>Tools and Tech Stack Used</vt:lpstr>
      <vt:lpstr>Impact &amp; Use Case</vt:lpstr>
      <vt:lpstr>Innovation, Results &amp; Limitations</vt:lpstr>
      <vt:lpstr>What's Next</vt:lpstr>
      <vt:lpstr>Differentiation — Why RePlan, Not Another Wrapper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Binny Lakra/PRISM /SRI-Bangalore/Professional/Samsung Electronics</dc:creator>
  <cp:lastModifiedBy>Lakshya</cp:lastModifiedBy>
  <cp:revision>1</cp:revision>
  <dcterms:created xsi:type="dcterms:W3CDTF">2026-09-07T12:01:01Z</dcterms:created>
  <dcterms:modified xsi:type="dcterms:W3CDTF">2026-09-30T16:41:59Z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